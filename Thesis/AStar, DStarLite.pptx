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4"/>
  </p:notesMasterIdLst>
  <p:sldIdLst>
    <p:sldId id="256" r:id="rId2"/>
    <p:sldId id="267" r:id="rId3"/>
    <p:sldId id="269" r:id="rId4"/>
    <p:sldId id="270" r:id="rId5"/>
    <p:sldId id="258" r:id="rId6"/>
    <p:sldId id="261" r:id="rId7"/>
    <p:sldId id="262" r:id="rId8"/>
    <p:sldId id="263" r:id="rId9"/>
    <p:sldId id="264" r:id="rId10"/>
    <p:sldId id="257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72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4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17B53A-5F02-46AC-A602-E11F15763443}" type="datetimeFigureOut">
              <a:rPr lang="el-GR" smtClean="0"/>
              <a:t>16/2/2026</a:t>
            </a:fld>
            <a:endParaRPr lang="el-GR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89EAB6-8F16-4223-B015-54B4C23A7B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93690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4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8392883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l-GR"/>
              <a:t>Κάντε κλικ για να επεξεργαστείτε τον υπότιτλο του υποδείγματος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566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203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19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066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98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40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23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935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l-GR"/>
              <a:t>Κάντε κλικ στο εικονίδιο για να προσθέσετε εικόνα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471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8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981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28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2.png"/><Relationship Id="rId7" Type="http://schemas.openxmlformats.org/officeDocument/2006/relationships/image" Target="../media/image9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4" Type="http://schemas.openxmlformats.org/officeDocument/2006/relationships/image" Target="../media/image13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A4133A6A-E68E-C46B-4CF9-49687C46D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17156723-D5DE-B505-3DE0-692E04FE2B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Initialize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open</m:t>
                    </m:r>
                    <m:r>
                      <a:rPr lang="en-US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list</m:t>
                    </m:r>
                    <m:r>
                      <a:rPr lang="en-US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={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start</m:t>
                    </m:r>
                    <m:r>
                      <a:rPr lang="en-US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closed</m:t>
                    </m:r>
                    <m:r>
                      <a:rPr lang="en-US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list</m:t>
                    </m:r>
                    <m:r>
                      <a:rPr lang="en-US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={}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r>
                      <a:rPr lang="en-US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start</m:t>
                    </m:r>
                    <m:r>
                      <a:rPr lang="en-US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)=0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heuristic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function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end</m:t>
                        </m:r>
                      </m:e>
                    </m:d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f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start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17156723-D5DE-B505-3DE0-692E04FE2B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8572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56C45-56C6-9AC9-DA7E-956F5C279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522D5670-9E86-1570-64BD-01D9360D6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9BA57851-597C-8686-244D-362A24A74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091" y="3050381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172E2AF-4F4C-3D10-B106-57B4124B4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374" y="2712244"/>
            <a:ext cx="1457325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BF5D757D-720A-3CBD-9BF6-58353CB71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0" y="3050381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5A806F2-AB8F-04E3-A060-FCD5E3651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954" y="2207418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>
            <a:extLst>
              <a:ext uri="{FF2B5EF4-FFF2-40B4-BE49-F238E27FC236}">
                <a16:creationId xmlns:a16="http://schemas.microsoft.com/office/drawing/2014/main" id="{C22DE1EF-65F1-3FFF-8889-947FD402CB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9186" y="3429000"/>
            <a:ext cx="1457325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879A8E0A-2FEC-A3C2-09B5-683364882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3222" y="3762375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>
            <a:extLst>
              <a:ext uri="{FF2B5EF4-FFF2-40B4-BE49-F238E27FC236}">
                <a16:creationId xmlns:a16="http://schemas.microsoft.com/office/drawing/2014/main" id="{446FDB1E-947C-75F6-F643-4DDC6A9B13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1636" y="3098007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Ευθύγραμμο βέλος σύνδεσης 13">
            <a:extLst>
              <a:ext uri="{FF2B5EF4-FFF2-40B4-BE49-F238E27FC236}">
                <a16:creationId xmlns:a16="http://schemas.microsoft.com/office/drawing/2014/main" id="{63D5401A-5631-3BB9-2A30-3F3D0027A885}"/>
              </a:ext>
            </a:extLst>
          </p:cNvPr>
          <p:cNvCxnSpPr>
            <a:stCxn id="1027" idx="3"/>
            <a:endCxn id="1028" idx="1"/>
          </p:cNvCxnSpPr>
          <p:nvPr/>
        </p:nvCxnSpPr>
        <p:spPr>
          <a:xfrm>
            <a:off x="1581941" y="3550444"/>
            <a:ext cx="4024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Ευθύγραμμο βέλος σύνδεσης 16">
            <a:extLst>
              <a:ext uri="{FF2B5EF4-FFF2-40B4-BE49-F238E27FC236}">
                <a16:creationId xmlns:a16="http://schemas.microsoft.com/office/drawing/2014/main" id="{B55D498A-C08D-38B9-21F2-F470E9F07FAB}"/>
              </a:ext>
            </a:extLst>
          </p:cNvPr>
          <p:cNvCxnSpPr>
            <a:stCxn id="1028" idx="3"/>
            <a:endCxn id="1029" idx="1"/>
          </p:cNvCxnSpPr>
          <p:nvPr/>
        </p:nvCxnSpPr>
        <p:spPr>
          <a:xfrm>
            <a:off x="3441699" y="3550444"/>
            <a:ext cx="3667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Γραμμή σύνδεσης: Γωνιώδης 18">
            <a:extLst>
              <a:ext uri="{FF2B5EF4-FFF2-40B4-BE49-F238E27FC236}">
                <a16:creationId xmlns:a16="http://schemas.microsoft.com/office/drawing/2014/main" id="{A6839458-9B90-E613-C0FE-7C498CF0415B}"/>
              </a:ext>
            </a:extLst>
          </p:cNvPr>
          <p:cNvCxnSpPr>
            <a:stCxn id="1029" idx="3"/>
            <a:endCxn id="1032" idx="1"/>
          </p:cNvCxnSpPr>
          <p:nvPr/>
        </p:nvCxnSpPr>
        <p:spPr>
          <a:xfrm flipV="1">
            <a:off x="5265735" y="2712243"/>
            <a:ext cx="938219" cy="83820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E2C90CCB-D471-665A-CB39-C5C7B2B118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5273" y="2478881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Γραμμή σύνδεσης: Γωνιώδης 20">
            <a:extLst>
              <a:ext uri="{FF2B5EF4-FFF2-40B4-BE49-F238E27FC236}">
                <a16:creationId xmlns:a16="http://schemas.microsoft.com/office/drawing/2014/main" id="{FE231EF0-78BF-FF1C-B49F-C0F231F66B89}"/>
              </a:ext>
            </a:extLst>
          </p:cNvPr>
          <p:cNvCxnSpPr>
            <a:stCxn id="1029" idx="3"/>
            <a:endCxn id="1033" idx="1"/>
          </p:cNvCxnSpPr>
          <p:nvPr/>
        </p:nvCxnSpPr>
        <p:spPr>
          <a:xfrm>
            <a:off x="5265735" y="3550444"/>
            <a:ext cx="933451" cy="71675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1" name="Picture 7">
            <a:extLst>
              <a:ext uri="{FF2B5EF4-FFF2-40B4-BE49-F238E27FC236}">
                <a16:creationId xmlns:a16="http://schemas.microsoft.com/office/drawing/2014/main" id="{70D4CCB8-2E02-C349-A9BE-FC657D1D8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5273" y="4033838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Ευθύγραμμο βέλος σύνδεσης 22">
            <a:extLst>
              <a:ext uri="{FF2B5EF4-FFF2-40B4-BE49-F238E27FC236}">
                <a16:creationId xmlns:a16="http://schemas.microsoft.com/office/drawing/2014/main" id="{52452A63-5F12-84D7-0A82-6D9D645D4532}"/>
              </a:ext>
            </a:extLst>
          </p:cNvPr>
          <p:cNvCxnSpPr>
            <a:stCxn id="1033" idx="3"/>
            <a:endCxn id="1034" idx="1"/>
          </p:cNvCxnSpPr>
          <p:nvPr/>
        </p:nvCxnSpPr>
        <p:spPr>
          <a:xfrm>
            <a:off x="7656511" y="4267200"/>
            <a:ext cx="3667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Γραμμή σύνδεσης: Γωνιώδης 24">
            <a:extLst>
              <a:ext uri="{FF2B5EF4-FFF2-40B4-BE49-F238E27FC236}">
                <a16:creationId xmlns:a16="http://schemas.microsoft.com/office/drawing/2014/main" id="{A4C60830-23FA-2E27-DCFF-67685F79BDCE}"/>
              </a:ext>
            </a:extLst>
          </p:cNvPr>
          <p:cNvCxnSpPr>
            <a:stCxn id="1034" idx="3"/>
            <a:endCxn id="1035" idx="1"/>
          </p:cNvCxnSpPr>
          <p:nvPr/>
        </p:nvCxnSpPr>
        <p:spPr>
          <a:xfrm flipV="1">
            <a:off x="9480547" y="3598070"/>
            <a:ext cx="1081089" cy="669130"/>
          </a:xfrm>
          <a:prstGeom prst="bentConnector3">
            <a:avLst>
              <a:gd name="adj1" fmla="val 5000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Γραμμή σύνδεσης: Γωνιώδης 26">
            <a:extLst>
              <a:ext uri="{FF2B5EF4-FFF2-40B4-BE49-F238E27FC236}">
                <a16:creationId xmlns:a16="http://schemas.microsoft.com/office/drawing/2014/main" id="{A4F692CE-0E12-9D23-5419-39D6AD15E754}"/>
              </a:ext>
            </a:extLst>
          </p:cNvPr>
          <p:cNvCxnSpPr>
            <a:cxnSpLocks/>
            <a:stCxn id="1034" idx="3"/>
          </p:cNvCxnSpPr>
          <p:nvPr/>
        </p:nvCxnSpPr>
        <p:spPr>
          <a:xfrm>
            <a:off x="9480547" y="4267200"/>
            <a:ext cx="2538414" cy="738187"/>
          </a:xfrm>
          <a:prstGeom prst="bentConnector3">
            <a:avLst>
              <a:gd name="adj1" fmla="val 2145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6">
            <a:extLst>
              <a:ext uri="{FF2B5EF4-FFF2-40B4-BE49-F238E27FC236}">
                <a16:creationId xmlns:a16="http://schemas.microsoft.com/office/drawing/2014/main" id="{4D927872-2A38-4F14-DECC-82E809498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8674" y="3350259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7">
            <a:extLst>
              <a:ext uri="{FF2B5EF4-FFF2-40B4-BE49-F238E27FC236}">
                <a16:creationId xmlns:a16="http://schemas.microsoft.com/office/drawing/2014/main" id="{CE402F9E-818B-CEC0-3E8C-E025CED2FB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8674" y="4772025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8" name="Ομάδα 1037">
            <a:extLst>
              <a:ext uri="{FF2B5EF4-FFF2-40B4-BE49-F238E27FC236}">
                <a16:creationId xmlns:a16="http://schemas.microsoft.com/office/drawing/2014/main" id="{2C78048B-3A48-49A8-5C87-4072311F0376}"/>
              </a:ext>
            </a:extLst>
          </p:cNvPr>
          <p:cNvGrpSpPr/>
          <p:nvPr/>
        </p:nvGrpSpPr>
        <p:grpSpPr>
          <a:xfrm>
            <a:off x="6199185" y="5273159"/>
            <a:ext cx="4980649" cy="1068016"/>
            <a:chOff x="6199185" y="5273159"/>
            <a:chExt cx="4980649" cy="1068016"/>
          </a:xfrm>
        </p:grpSpPr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AD0BF4D1-88A1-4E32-DC79-5443C81854D0}"/>
                </a:ext>
              </a:extLst>
            </p:cNvPr>
            <p:cNvSpPr txBox="1"/>
            <p:nvPr/>
          </p:nvSpPr>
          <p:spPr>
            <a:xfrm>
              <a:off x="6199185" y="5273159"/>
              <a:ext cx="14573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 = g + h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6" name="TextBox 1035">
              <a:extLst>
                <a:ext uri="{FF2B5EF4-FFF2-40B4-BE49-F238E27FC236}">
                  <a16:creationId xmlns:a16="http://schemas.microsoft.com/office/drawing/2014/main" id="{03CE3E37-B50A-60AE-E6E9-ABE5D22F9D71}"/>
                </a:ext>
              </a:extLst>
            </p:cNvPr>
            <p:cNvSpPr txBox="1"/>
            <p:nvPr/>
          </p:nvSpPr>
          <p:spPr>
            <a:xfrm>
              <a:off x="6199186" y="5602511"/>
              <a:ext cx="4980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 =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κόστος από το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Start node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μέχρι το τρέχον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node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7" name="TextBox 1036">
              <a:extLst>
                <a:ext uri="{FF2B5EF4-FFF2-40B4-BE49-F238E27FC236}">
                  <a16:creationId xmlns:a16="http://schemas.microsoft.com/office/drawing/2014/main" id="{F6DFCBA2-D093-E4F2-9B62-CD4BBF25E60E}"/>
                </a:ext>
              </a:extLst>
            </p:cNvPr>
            <p:cNvSpPr txBox="1"/>
            <p:nvPr/>
          </p:nvSpPr>
          <p:spPr>
            <a:xfrm>
              <a:off x="6199185" y="5971843"/>
              <a:ext cx="40144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 =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κόστος </a:t>
              </a:r>
              <a:r>
                <a:rPr lang="el-G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ευριστικής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μέχρι το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End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node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040" name="TextBox 1039">
            <a:extLst>
              <a:ext uri="{FF2B5EF4-FFF2-40B4-BE49-F238E27FC236}">
                <a16:creationId xmlns:a16="http://schemas.microsoft.com/office/drawing/2014/main" id="{7EE4A03D-0BBF-C2AF-6C6E-E6B617090964}"/>
              </a:ext>
            </a:extLst>
          </p:cNvPr>
          <p:cNvSpPr txBox="1"/>
          <p:nvPr/>
        </p:nvSpPr>
        <p:spPr>
          <a:xfrm>
            <a:off x="1982790" y="4587359"/>
            <a:ext cx="1457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List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Closed List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1441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500"/>
                            </p:stCondLst>
                            <p:childTnLst>
                              <p:par>
                                <p:cTn id="5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1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8A9DD-DA3D-D20E-DE86-8DD80762A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0BFB5A0-C366-32AA-15CB-8DA799BE7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Ομάδα 2">
            <a:extLst>
              <a:ext uri="{FF2B5EF4-FFF2-40B4-BE49-F238E27FC236}">
                <a16:creationId xmlns:a16="http://schemas.microsoft.com/office/drawing/2014/main" id="{B58EF1BB-1CFE-9D57-7E1E-8B40D5D1B38B}"/>
              </a:ext>
            </a:extLst>
          </p:cNvPr>
          <p:cNvGrpSpPr/>
          <p:nvPr/>
        </p:nvGrpSpPr>
        <p:grpSpPr>
          <a:xfrm>
            <a:off x="8023222" y="3098007"/>
            <a:ext cx="3995739" cy="2140743"/>
            <a:chOff x="8023222" y="3098007"/>
            <a:chExt cx="3995739" cy="2140743"/>
          </a:xfrm>
        </p:grpSpPr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C01B12F6-206A-D49C-9089-E4B4AFD514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23222" y="3762375"/>
              <a:ext cx="1457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5" name="Picture 11">
              <a:extLst>
                <a:ext uri="{FF2B5EF4-FFF2-40B4-BE49-F238E27FC236}">
                  <a16:creationId xmlns:a16="http://schemas.microsoft.com/office/drawing/2014/main" id="{7957DF05-96C1-2A3A-95DD-A14E30B4B1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1636" y="3098007"/>
              <a:ext cx="1457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5" name="Γραμμή σύνδεσης: Γωνιώδης 24">
              <a:extLst>
                <a:ext uri="{FF2B5EF4-FFF2-40B4-BE49-F238E27FC236}">
                  <a16:creationId xmlns:a16="http://schemas.microsoft.com/office/drawing/2014/main" id="{64FCC64B-D52D-F9BF-7F31-56731BE190B4}"/>
                </a:ext>
              </a:extLst>
            </p:cNvPr>
            <p:cNvCxnSpPr>
              <a:stCxn id="1034" idx="3"/>
              <a:endCxn id="1035" idx="1"/>
            </p:cNvCxnSpPr>
            <p:nvPr/>
          </p:nvCxnSpPr>
          <p:spPr>
            <a:xfrm flipV="1">
              <a:off x="9480547" y="3598070"/>
              <a:ext cx="1081089" cy="66913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Γραμμή σύνδεσης: Γωνιώδης 26">
              <a:extLst>
                <a:ext uri="{FF2B5EF4-FFF2-40B4-BE49-F238E27FC236}">
                  <a16:creationId xmlns:a16="http://schemas.microsoft.com/office/drawing/2014/main" id="{FB21D45D-3E57-A112-9B14-DE42630A4479}"/>
                </a:ext>
              </a:extLst>
            </p:cNvPr>
            <p:cNvCxnSpPr>
              <a:cxnSpLocks/>
              <a:stCxn id="1034" idx="3"/>
            </p:cNvCxnSpPr>
            <p:nvPr/>
          </p:nvCxnSpPr>
          <p:spPr>
            <a:xfrm>
              <a:off x="9480547" y="4267200"/>
              <a:ext cx="2538414" cy="738187"/>
            </a:xfrm>
            <a:prstGeom prst="bentConnector3">
              <a:avLst>
                <a:gd name="adj1" fmla="val 21454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" name="Picture 6">
              <a:extLst>
                <a:ext uri="{FF2B5EF4-FFF2-40B4-BE49-F238E27FC236}">
                  <a16:creationId xmlns:a16="http://schemas.microsoft.com/office/drawing/2014/main" id="{01E8FF76-EA29-7470-F361-900E9D5F83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8674" y="3350259"/>
              <a:ext cx="714375" cy="4667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7">
              <a:extLst>
                <a:ext uri="{FF2B5EF4-FFF2-40B4-BE49-F238E27FC236}">
                  <a16:creationId xmlns:a16="http://schemas.microsoft.com/office/drawing/2014/main" id="{0D07A933-184B-5889-2162-284DABB681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8674" y="4772025"/>
              <a:ext cx="714375" cy="4667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4237258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3.7037E-7 L -0.6556 -0.1932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786" y="-96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1DFB-3254-9747-4B31-BF776902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0BC5813C-F1BD-ED02-CC96-DF121995F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1" name="Picture 3">
            <a:extLst>
              <a:ext uri="{FF2B5EF4-FFF2-40B4-BE49-F238E27FC236}">
                <a16:creationId xmlns:a16="http://schemas.microsoft.com/office/drawing/2014/main" id="{FC3B9168-E6A3-816E-B2B6-B0E6EF97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7483" y="3200168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4C44C605-38B2-A7FA-5596-EA57EBCC2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7234" y="3200168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775F9956-DC73-D989-5CD1-37A6A5ACF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5787" y="2857268"/>
            <a:ext cx="1466850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Ομάδα 1">
            <a:extLst>
              <a:ext uri="{FF2B5EF4-FFF2-40B4-BE49-F238E27FC236}">
                <a16:creationId xmlns:a16="http://schemas.microsoft.com/office/drawing/2014/main" id="{031CF714-8511-822A-CBA1-EF76A6025D77}"/>
              </a:ext>
            </a:extLst>
          </p:cNvPr>
          <p:cNvGrpSpPr/>
          <p:nvPr/>
        </p:nvGrpSpPr>
        <p:grpSpPr>
          <a:xfrm>
            <a:off x="31744" y="1756092"/>
            <a:ext cx="3995739" cy="2140743"/>
            <a:chOff x="8023222" y="3098007"/>
            <a:chExt cx="3995739" cy="2140743"/>
          </a:xfrm>
        </p:grpSpPr>
        <p:pic>
          <p:nvPicPr>
            <p:cNvPr id="5" name="Picture 10">
              <a:extLst>
                <a:ext uri="{FF2B5EF4-FFF2-40B4-BE49-F238E27FC236}">
                  <a16:creationId xmlns:a16="http://schemas.microsoft.com/office/drawing/2014/main" id="{C0A3C79E-D175-34F4-8DF1-B3651A2E46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23222" y="3762375"/>
              <a:ext cx="1457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11">
              <a:extLst>
                <a:ext uri="{FF2B5EF4-FFF2-40B4-BE49-F238E27FC236}">
                  <a16:creationId xmlns:a16="http://schemas.microsoft.com/office/drawing/2014/main" id="{B8B06E1E-C171-658D-061E-C2C594D78C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1636" y="3098007"/>
              <a:ext cx="1457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7" name="Γραμμή σύνδεσης: Γωνιώδης 6">
              <a:extLst>
                <a:ext uri="{FF2B5EF4-FFF2-40B4-BE49-F238E27FC236}">
                  <a16:creationId xmlns:a16="http://schemas.microsoft.com/office/drawing/2014/main" id="{2F400837-CCDE-AA2C-37A7-CFD79B54F926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9480547" y="3598070"/>
              <a:ext cx="1081089" cy="66913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Γραμμή σύνδεσης: Γωνιώδης 9">
              <a:extLst>
                <a:ext uri="{FF2B5EF4-FFF2-40B4-BE49-F238E27FC236}">
                  <a16:creationId xmlns:a16="http://schemas.microsoft.com/office/drawing/2014/main" id="{635761A1-12F7-5FC0-F028-80EEEA365711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9480547" y="4267200"/>
              <a:ext cx="2538414" cy="738187"/>
            </a:xfrm>
            <a:prstGeom prst="bentConnector3">
              <a:avLst>
                <a:gd name="adj1" fmla="val 21454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Picture 6">
              <a:extLst>
                <a:ext uri="{FF2B5EF4-FFF2-40B4-BE49-F238E27FC236}">
                  <a16:creationId xmlns:a16="http://schemas.microsoft.com/office/drawing/2014/main" id="{C75CDFD9-8781-660D-EF1C-2285A81E58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8674" y="3350259"/>
              <a:ext cx="714375" cy="4667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7">
              <a:extLst>
                <a:ext uri="{FF2B5EF4-FFF2-40B4-BE49-F238E27FC236}">
                  <a16:creationId xmlns:a16="http://schemas.microsoft.com/office/drawing/2014/main" id="{0110DF5A-9926-AE2C-AD85-8DA7E68F3F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8674" y="4772025"/>
              <a:ext cx="714375" cy="4667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4" name="Ευθύγραμμο βέλος σύνδεσης 13">
            <a:extLst>
              <a:ext uri="{FF2B5EF4-FFF2-40B4-BE49-F238E27FC236}">
                <a16:creationId xmlns:a16="http://schemas.microsoft.com/office/drawing/2014/main" id="{46EBCD49-D267-E7E7-4144-B2099DDC4586}"/>
              </a:ext>
            </a:extLst>
          </p:cNvPr>
          <p:cNvCxnSpPr>
            <a:stCxn id="2051" idx="3"/>
            <a:endCxn id="2052" idx="1"/>
          </p:cNvCxnSpPr>
          <p:nvPr/>
        </p:nvCxnSpPr>
        <p:spPr>
          <a:xfrm>
            <a:off x="5484808" y="3700231"/>
            <a:ext cx="35242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73" name="Picture 1">
            <a:extLst>
              <a:ext uri="{FF2B5EF4-FFF2-40B4-BE49-F238E27FC236}">
                <a16:creationId xmlns:a16="http://schemas.microsoft.com/office/drawing/2014/main" id="{9BBB7D0E-A555-2576-EF95-819FB71F6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1748" y="3190643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89D24574-2176-F46B-DE31-93E18B01D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1748" y="1940603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57F65A7B-0CE5-537D-F6AC-CAAF1BC26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9065" y="4450208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Γραμμή σύνδεσης: Γωνιώδης 21">
            <a:extLst>
              <a:ext uri="{FF2B5EF4-FFF2-40B4-BE49-F238E27FC236}">
                <a16:creationId xmlns:a16="http://schemas.microsoft.com/office/drawing/2014/main" id="{400F8D09-4119-916F-E872-132B9090A0B3}"/>
              </a:ext>
            </a:extLst>
          </p:cNvPr>
          <p:cNvCxnSpPr>
            <a:stCxn id="2052" idx="3"/>
            <a:endCxn id="3074" idx="1"/>
          </p:cNvCxnSpPr>
          <p:nvPr/>
        </p:nvCxnSpPr>
        <p:spPr>
          <a:xfrm flipV="1">
            <a:off x="7294559" y="2440666"/>
            <a:ext cx="357189" cy="125956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Γραμμή σύνδεσης: Γωνιώδης 23">
            <a:extLst>
              <a:ext uri="{FF2B5EF4-FFF2-40B4-BE49-F238E27FC236}">
                <a16:creationId xmlns:a16="http://schemas.microsoft.com/office/drawing/2014/main" id="{E471C965-DE22-8A43-D3A9-7730F1ED18EF}"/>
              </a:ext>
            </a:extLst>
          </p:cNvPr>
          <p:cNvCxnSpPr>
            <a:stCxn id="2052" idx="3"/>
            <a:endCxn id="3075" idx="1"/>
          </p:cNvCxnSpPr>
          <p:nvPr/>
        </p:nvCxnSpPr>
        <p:spPr>
          <a:xfrm>
            <a:off x="7294559" y="3700231"/>
            <a:ext cx="384506" cy="1254802"/>
          </a:xfrm>
          <a:prstGeom prst="bentConnector3">
            <a:avLst>
              <a:gd name="adj1" fmla="val 4551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Ευθύγραμμο βέλος σύνδεσης 27">
            <a:extLst>
              <a:ext uri="{FF2B5EF4-FFF2-40B4-BE49-F238E27FC236}">
                <a16:creationId xmlns:a16="http://schemas.microsoft.com/office/drawing/2014/main" id="{E1F55E9A-0FA0-15DE-42F4-EEA049518E07}"/>
              </a:ext>
            </a:extLst>
          </p:cNvPr>
          <p:cNvCxnSpPr>
            <a:stCxn id="2052" idx="3"/>
            <a:endCxn id="3073" idx="1"/>
          </p:cNvCxnSpPr>
          <p:nvPr/>
        </p:nvCxnSpPr>
        <p:spPr>
          <a:xfrm flipV="1">
            <a:off x="7294559" y="3695468"/>
            <a:ext cx="357189" cy="47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Ευθύγραμμο βέλος σύνδεσης 30">
            <a:extLst>
              <a:ext uri="{FF2B5EF4-FFF2-40B4-BE49-F238E27FC236}">
                <a16:creationId xmlns:a16="http://schemas.microsoft.com/office/drawing/2014/main" id="{D36A7033-F227-94B6-5B49-262B2652631B}"/>
              </a:ext>
            </a:extLst>
          </p:cNvPr>
          <p:cNvCxnSpPr>
            <a:stCxn id="3073" idx="3"/>
            <a:endCxn id="2054" idx="1"/>
          </p:cNvCxnSpPr>
          <p:nvPr/>
        </p:nvCxnSpPr>
        <p:spPr>
          <a:xfrm>
            <a:off x="9118598" y="3695468"/>
            <a:ext cx="35718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5" name="Γραμμή σύνδεσης: Γωνιώδης 2054">
            <a:extLst>
              <a:ext uri="{FF2B5EF4-FFF2-40B4-BE49-F238E27FC236}">
                <a16:creationId xmlns:a16="http://schemas.microsoft.com/office/drawing/2014/main" id="{C8BEAC15-B589-8118-936B-F019B05F1055}"/>
              </a:ext>
            </a:extLst>
          </p:cNvPr>
          <p:cNvCxnSpPr>
            <a:stCxn id="3074" idx="3"/>
            <a:endCxn id="2054" idx="1"/>
          </p:cNvCxnSpPr>
          <p:nvPr/>
        </p:nvCxnSpPr>
        <p:spPr>
          <a:xfrm>
            <a:off x="9118598" y="2440666"/>
            <a:ext cx="357189" cy="125480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7" name="Γραμμή σύνδεσης: Γωνιώδης 2056">
            <a:extLst>
              <a:ext uri="{FF2B5EF4-FFF2-40B4-BE49-F238E27FC236}">
                <a16:creationId xmlns:a16="http://schemas.microsoft.com/office/drawing/2014/main" id="{D90D39AC-F3CC-6749-87F8-3CB40607E13F}"/>
              </a:ext>
            </a:extLst>
          </p:cNvPr>
          <p:cNvCxnSpPr>
            <a:stCxn id="3075" idx="3"/>
            <a:endCxn id="2054" idx="1"/>
          </p:cNvCxnSpPr>
          <p:nvPr/>
        </p:nvCxnSpPr>
        <p:spPr>
          <a:xfrm flipV="1">
            <a:off x="9145915" y="3695468"/>
            <a:ext cx="329872" cy="1259565"/>
          </a:xfrm>
          <a:prstGeom prst="bentConnector3">
            <a:avLst>
              <a:gd name="adj1" fmla="val 4738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28420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0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2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FFC6F-C69A-6C02-6C5F-2E1926C24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15860B01-AF8D-4DC9-D14A-A763141A5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Θέση περιεχομένου 4">
            <a:extLst>
              <a:ext uri="{FF2B5EF4-FFF2-40B4-BE49-F238E27FC236}">
                <a16:creationId xmlns:a16="http://schemas.microsoft.com/office/drawing/2014/main" id="{28727169-F53D-A70A-37FC-7D437E500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34932" cy="4351338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{1} Initialize()</a:t>
            </a:r>
          </a:p>
        </p:txBody>
      </p:sp>
    </p:spTree>
    <p:extLst>
      <p:ext uri="{BB962C8B-B14F-4D97-AF65-F5344CB8AC3E}">
        <p14:creationId xmlns:p14="http://schemas.microsoft.com/office/powerpoint/2010/main" val="134537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56D816-A5FB-3495-5BDD-14621501E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D07032E8-00C2-9E96-E32C-219DB3F7D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B893CD9D-609A-263A-41D4-5E03F801C3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</p:spPr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=Ø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Insert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goal</m:t>
                        </m:r>
                      </m:sub>
                    </m:sSub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:r>
                  <a:rPr lang="en-US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rhs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B893CD9D-609A-263A-41D4-5E03F801C3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  <a:blipFill>
                <a:blip r:embed="rId3"/>
                <a:stretch>
                  <a:fillRect l="-1204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1514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AE66D1-B2CC-7D34-78A0-6A15D2225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5D12BECD-7692-1A8B-2A85-753B5828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Θέση περιεχομένου 4">
            <a:extLst>
              <a:ext uri="{FF2B5EF4-FFF2-40B4-BE49-F238E27FC236}">
                <a16:creationId xmlns:a16="http://schemas.microsoft.com/office/drawing/2014/main" id="{FC7DC60A-726E-6A79-DDDC-EDD09543E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34932" cy="4351338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{1} Initialize()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{2} ComputeShortestPath()</a:t>
            </a:r>
          </a:p>
        </p:txBody>
      </p:sp>
    </p:spTree>
    <p:extLst>
      <p:ext uri="{BB962C8B-B14F-4D97-AF65-F5344CB8AC3E}">
        <p14:creationId xmlns:p14="http://schemas.microsoft.com/office/powerpoint/2010/main" val="41988904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6D3801-4567-8DE7-C9A2-0AB3631B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EDD9CEDD-147D-76AB-D3C3-E28C22EC5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73AC1393-7E30-F1F0-DD5E-1D9459BC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{2} ComputeShortestPath()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while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TopKey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()&lt;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OR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old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TopKey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Pop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</m:t>
                    </m:r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old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&lt;</m:t>
                        </m:r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CalculateKey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e>
                        </m:d>
                      </m:e>
                    </m:d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comparison between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73AC1393-7E30-F1F0-DD5E-1D9459BC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49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8B30E-6062-B08F-8547-09E8F031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9F7934FB-3E88-5663-8994-69591D953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408FAF65-AC84-C35D-5E14-784F751D7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</p:spPr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{2} ComputeShortestPath()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{3} while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goal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{4} 	if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then there is no known path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{5}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arg</m:t>
                        </m:r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min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Succ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start</m:t>
                                    </m:r>
                                  </m:sub>
                                </m:sSub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c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start</m:t>
                                    </m:r>
                                  </m:sub>
                                </m:sSub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 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{6} 	Move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{7} 	Scan graph for changed edge costs</a:t>
                </a: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408FAF65-AC84-C35D-5E14-784F751D7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  <a:blipFill>
                <a:blip r:embed="rId3"/>
                <a:stretch>
                  <a:fillRect l="-1204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99365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64AC79-5FF4-1650-8DAA-B3EF7200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B5309F1-FFCA-6347-F89E-7F89C5FDC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6735C358-4FBD-58D3-37F5-5D86F6E08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{8} 	If any edge costs changed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{9}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{11} 		for all directed edges </a:t>
                </a:r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changed edge costs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{12} 			Update the edge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{13} 			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UpdateVertex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(u)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min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Succ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e>
                        </m:d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Remove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endParaRPr lang="en-US" b="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rhs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Insert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6735C358-4FBD-58D3-37F5-5D86F6E08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l="-1217" t="-2058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504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0AA75-0287-6879-6B5D-FF0AB0C92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D3E72FFD-8AF1-FDCE-1A21-8613CE120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E0BF8C84-CAE8-F1F7-AD57-4E7C219D41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{8} 	If any edge costs changed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{9}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{11} 		for all directed edges </a:t>
                </a:r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changed edge costs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{12} 			Update the edge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{13} 			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UpdateVertex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(u)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{14} 		ComputeShortestPath()</a:t>
                </a: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E0BF8C84-CAE8-F1F7-AD57-4E7C219D41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746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A3183B-FB99-30BF-E9C2-B407010B0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09260AA6-ED15-F7CF-34E5-C7DE36D1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Θέση περιεχομένου 4">
            <a:extLst>
              <a:ext uri="{FF2B5EF4-FFF2-40B4-BE49-F238E27FC236}">
                <a16:creationId xmlns:a16="http://schemas.microsoft.com/office/drawing/2014/main" id="{661A323D-63F1-337F-2376-5185D822F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74947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Θέμα του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Θέμα του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Θέμα του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882</TotalTime>
  <Words>480</Words>
  <Application>Microsoft Office PowerPoint</Application>
  <PresentationFormat>Ευρεία οθόνη</PresentationFormat>
  <Paragraphs>66</Paragraphs>
  <Slides>12</Slides>
  <Notes>1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Times New Roman</vt:lpstr>
      <vt:lpstr>Office Theme</vt:lpstr>
      <vt:lpstr>A*</vt:lpstr>
      <vt:lpstr>A*</vt:lpstr>
      <vt:lpstr>A*</vt:lpstr>
      <vt:lpstr>A*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Georgios Pitsos</cp:lastModifiedBy>
  <cp:revision>23</cp:revision>
  <dcterms:created xsi:type="dcterms:W3CDTF">2025-12-09T10:17:46Z</dcterms:created>
  <dcterms:modified xsi:type="dcterms:W3CDTF">2026-02-16T16:48:34Z</dcterms:modified>
</cp:coreProperties>
</file>